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architecture and concept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auditable platform joining VA collection, computer-coded evidence and physician-authorised cause assignment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CHANNELS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CORE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+ USERS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084832"/>
            <a:ext cx="2386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VA forms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 Central sync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interviews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365760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33756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CE9F6"/>
          </a:solidFill>
          <a:ln w="15875">
            <a:solidFill>
              <a:srgbClr val="5E4FA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410712"/>
            <a:ext cx="2386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forms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SmartVA-compatible and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programme-specific profiles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3886200"/>
            <a:ext cx="365760" cy="914"/>
          </a:xfrm>
          <a:prstGeom prst="line">
            <a:avLst/>
          </a:prstGeom>
          <a:noFill/>
          <a:ln w="25400">
            <a:solidFill>
              <a:srgbClr val="5E4FA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6634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4F2EA"/>
          </a:solidFill>
          <a:ln w="15875">
            <a:solidFill>
              <a:srgbClr val="2E7D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736592"/>
            <a:ext cx="2386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Health-system intake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register and direct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interview in the browser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0" y="5212080"/>
            <a:ext cx="365760" cy="914"/>
          </a:xfrm>
          <a:prstGeom prst="line">
            <a:avLst/>
          </a:prstGeom>
          <a:noFill/>
          <a:ln w="25400">
            <a:solidFill>
              <a:srgbClr val="2E7D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11880" y="196596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21488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3F4F3"/>
          </a:solidFill>
          <a:ln w="15875">
            <a:solidFill>
              <a:srgbClr val="1298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04488" y="222199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+ lineage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sync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versions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integrity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21488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DEEDC"/>
          </a:solidFill>
          <a:ln w="15875">
            <a:solidFill>
              <a:srgbClr val="E891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87568" y="222199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CCVA evidence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SmartVA today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algorithms planned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60920" y="21488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0648" y="222199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coding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coder decides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DORIS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first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94760" y="370332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EF1F4"/>
          </a:solidFill>
          <a:ln w="15875">
            <a:solidFill>
              <a:srgbClr val="5B6B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04488" y="377647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+ events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retries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77840" y="370332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CE9F6"/>
          </a:solidFill>
          <a:ln w="15875">
            <a:solidFill>
              <a:srgbClr val="5E4FA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87568" y="377647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review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physician path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Recoding episodes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authority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60920" y="370332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4F2EA"/>
          </a:solidFill>
          <a:ln w="15875">
            <a:solidFill>
              <a:srgbClr val="2E7D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0648" y="3776472"/>
            <a:ext cx="1380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intelligence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groups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exports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94960" y="2766060"/>
            <a:ext cx="182880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8040" y="2766060"/>
            <a:ext cx="182880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61020" y="3383280"/>
            <a:ext cx="914" cy="320040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394960" y="4320540"/>
            <a:ext cx="182880" cy="914"/>
          </a:xfrm>
          <a:prstGeom prst="line">
            <a:avLst/>
          </a:prstGeom>
          <a:noFill/>
          <a:ln w="25400">
            <a:solidFill>
              <a:srgbClr val="5E4FA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78040" y="4320540"/>
            <a:ext cx="182880" cy="914"/>
          </a:xfrm>
          <a:prstGeom prst="line">
            <a:avLst/>
          </a:prstGeom>
          <a:noFill/>
          <a:ln w="25400">
            <a:solidFill>
              <a:srgbClr val="2E7D5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794760" y="5230368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E3EDF8"/>
          </a:solidFill>
          <a:ln w="12700">
            <a:solidFill>
              <a:srgbClr val="E3ED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94760" y="52303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scope access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5230368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FDEEDC"/>
          </a:solidFill>
          <a:ln w="12700">
            <a:solidFill>
              <a:srgbClr val="FDEE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77840" y="52303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60920" y="5230368"/>
            <a:ext cx="1600200" cy="411480"/>
          </a:xfrm>
          <a:prstGeom prst="roundRect">
            <a:avLst>
              <a:gd name="adj" fmla="val 44444"/>
            </a:avLst>
          </a:prstGeom>
          <a:solidFill>
            <a:srgbClr val="F9E5E3"/>
          </a:solidFill>
          <a:ln w="12700">
            <a:solidFill>
              <a:srgbClr val="F9E5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60920" y="52303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PII-aware security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189720" y="20116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4F2EA"/>
          </a:solidFill>
          <a:ln w="15875">
            <a:solidFill>
              <a:srgbClr val="2E7D5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99448" y="2084832"/>
            <a:ext cx="2249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cause of death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in production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ICD-11 with WHO DORIS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006840" y="2560320"/>
            <a:ext cx="137160" cy="914"/>
          </a:xfrm>
          <a:prstGeom prst="line">
            <a:avLst/>
          </a:prstGeom>
          <a:noFill/>
          <a:ln w="25400">
            <a:solidFill>
              <a:srgbClr val="2E7D5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189720" y="333756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99448" y="3410712"/>
            <a:ext cx="2249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operations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colleges, HDSS sites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research networks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9006840" y="3886200"/>
            <a:ext cx="137160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189720" y="46634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DEEDC"/>
          </a:solidFill>
          <a:ln w="15875">
            <a:solidFill>
              <a:srgbClr val="E8912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99448" y="4736592"/>
            <a:ext cx="22494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Health-system action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intelligence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surveillance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9006840" y="5212080"/>
            <a:ext cx="137160" cy="914"/>
          </a:xfrm>
          <a:prstGeom prst="line">
            <a:avLst/>
          </a:prstGeom>
          <a:noFill/>
          <a:ln w="25400">
            <a:solidFill>
              <a:srgbClr val="E8912D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48640" y="60350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PLATFORM  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 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WHO ICD-11 API     </a:t>
            </a:r>
            <a:pPr algn="ctr" indent="0" marL="0">
              <a:buNone/>
            </a:pPr>
            <a:r>
              <a:rPr lang="en-US" sz="1200" b="1" dirty="0">
                <a:solidFill>
                  <a:srgbClr val="7F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on GitHub     </a:t>
            </a:r>
            <a:pPr algn="ctr" indent="0" marL="0">
              <a:buNone/>
            </a:pPr>
            <a:r>
              <a:rPr lang="en-US" sz="1200" b="1" dirty="0">
                <a:solidFill>
                  <a:srgbClr val="F5B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(future)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death to mortality intelligence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workflow, and the planned shift from periodic batches to near-real-time health-system operation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DigitVA  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4F2EA"/>
          </a:solidFill>
          <a:ln w="15875">
            <a:solidFill>
              <a:srgbClr val="2E7D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0195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identified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death, or an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in the death register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45920"/>
            <a:ext cx="384048" cy="384048"/>
          </a:xfrm>
          <a:prstGeom prst="ellipse">
            <a:avLst/>
          </a:prstGeom>
          <a:solidFill>
            <a:srgbClr val="2E7D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78608" y="2423160"/>
            <a:ext cx="265176" cy="914"/>
          </a:xfrm>
          <a:prstGeom prst="line">
            <a:avLst/>
          </a:prstGeom>
          <a:noFill/>
          <a:ln w="25400">
            <a:solidFill>
              <a:srgbClr val="2E7D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90195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interview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2022 form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supported profile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71800" y="1645920"/>
            <a:ext cx="384048" cy="384048"/>
          </a:xfrm>
          <a:prstGeom prst="ellipse">
            <a:avLst/>
          </a:prstGeom>
          <a:solidFill>
            <a:srgbClr val="3C78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2423160"/>
            <a:ext cx="265176" cy="914"/>
          </a:xfrm>
          <a:prstGeom prst="line">
            <a:avLst/>
          </a:prstGeom>
          <a:noFill/>
          <a:ln w="25400">
            <a:solidFill>
              <a:srgbClr val="3C78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75504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3F4F3"/>
          </a:solidFill>
          <a:ln w="15875">
            <a:solidFill>
              <a:srgbClr val="1298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85232" y="190195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 Central sync or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web entry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85232" y="1645920"/>
            <a:ext cx="384048" cy="384048"/>
          </a:xfrm>
          <a:prstGeom prst="ellipse">
            <a:avLst/>
          </a:prstGeom>
          <a:solidFill>
            <a:srgbClr val="1298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8523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05472" y="2423160"/>
            <a:ext cx="265176" cy="914"/>
          </a:xfrm>
          <a:prstGeom prst="line">
            <a:avLst/>
          </a:prstGeom>
          <a:noFill/>
          <a:ln w="25400">
            <a:solidFill>
              <a:srgbClr val="12989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88936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EF1F4"/>
          </a:solidFill>
          <a:ln w="15875">
            <a:solidFill>
              <a:srgbClr val="5B6B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98664" y="190195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version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completeness,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attachments, lineage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98664" y="1645920"/>
            <a:ext cx="384048" cy="384048"/>
          </a:xfrm>
          <a:prstGeom prst="ellipse">
            <a:avLst/>
          </a:prstGeom>
          <a:solidFill>
            <a:srgbClr val="5B6B7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9866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18904" y="2423160"/>
            <a:ext cx="265176" cy="914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02368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DEEDC"/>
          </a:solidFill>
          <a:ln w="15875">
            <a:solidFill>
              <a:srgbClr val="E891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12096" y="190195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CCVA evidence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SmartVA likelihoods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provenance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12096" y="1645920"/>
            <a:ext cx="384048" cy="384048"/>
          </a:xfrm>
          <a:prstGeom prst="ellipse">
            <a:avLst/>
          </a:prstGeom>
          <a:solidFill>
            <a:srgbClr val="E891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12096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808208" y="3035808"/>
            <a:ext cx="914" cy="438912"/>
          </a:xfrm>
          <a:prstGeom prst="line">
            <a:avLst/>
          </a:prstGeom>
          <a:noFill/>
          <a:ln w="25400">
            <a:solidFill>
              <a:srgbClr val="E8912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01023" y="370332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E3EDF8"/>
          </a:solidFill>
          <a:ln w="15875">
            <a:solidFill>
              <a:srgbClr val="3C78B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10751" y="3776472"/>
            <a:ext cx="23225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coding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Masked: certificate and DORIS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then SmartVA shown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10751" y="3520440"/>
            <a:ext cx="384048" cy="384048"/>
          </a:xfrm>
          <a:prstGeom prst="ellipse">
            <a:avLst/>
          </a:prstGeom>
          <a:solidFill>
            <a:srgbClr val="3C78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10751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 flipH="1">
            <a:off x="8817559" y="4297680"/>
            <a:ext cx="265176" cy="914"/>
          </a:xfrm>
          <a:prstGeom prst="line">
            <a:avLst/>
          </a:prstGeom>
          <a:noFill/>
          <a:ln w="25400">
            <a:solidFill>
              <a:srgbClr val="3C78B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57239" y="370332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ECE9F6"/>
          </a:solidFill>
          <a:ln w="15875">
            <a:solidFill>
              <a:srgbClr val="5E4FA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66967" y="3776472"/>
            <a:ext cx="23225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review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physician may code;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routine dual coding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6967" y="3520440"/>
            <a:ext cx="384048" cy="384048"/>
          </a:xfrm>
          <a:prstGeom prst="ellipse">
            <a:avLst/>
          </a:prstGeom>
          <a:solidFill>
            <a:srgbClr val="5E4FA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6967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 flipH="1">
            <a:off x="5973775" y="4297680"/>
            <a:ext cx="265176" cy="914"/>
          </a:xfrm>
          <a:prstGeom prst="line">
            <a:avLst/>
          </a:prstGeom>
          <a:noFill/>
          <a:ln w="25400">
            <a:solidFill>
              <a:srgbClr val="5E4FA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413455" y="370332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E4F2EA"/>
          </a:solidFill>
          <a:ln w="15875">
            <a:solidFill>
              <a:srgbClr val="2E7D5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23183" y="3776472"/>
            <a:ext cx="23225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cause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Physician-authorised ICD code,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audit kept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523183" y="3520440"/>
            <a:ext cx="384048" cy="384048"/>
          </a:xfrm>
          <a:prstGeom prst="ellipse">
            <a:avLst/>
          </a:prstGeom>
          <a:solidFill>
            <a:srgbClr val="2E7D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23183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 flipH="1">
            <a:off x="3129991" y="4297680"/>
            <a:ext cx="265176" cy="914"/>
          </a:xfrm>
          <a:prstGeom prst="line">
            <a:avLst/>
          </a:prstGeom>
          <a:noFill/>
          <a:ln w="25400">
            <a:solidFill>
              <a:srgbClr val="2E7D5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69671" y="370332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FDEEDC"/>
          </a:solidFill>
          <a:ln w="15875">
            <a:solidFill>
              <a:srgbClr val="E8912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9399" y="3776472"/>
            <a:ext cx="23225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groups, dashboards,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exports, feedback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9399" y="3520440"/>
            <a:ext cx="384048" cy="384048"/>
          </a:xfrm>
          <a:prstGeom prst="ellipse">
            <a:avLst/>
          </a:prstGeom>
          <a:solidFill>
            <a:srgbClr val="E891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9399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8640" y="525780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9E5E3"/>
          </a:solidFill>
          <a:ln w="12700">
            <a:solidFill>
              <a:srgbClr val="E3A9A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1520" y="53035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DATA-CHANGE SAFETY LOOP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interview data becomes a new payload version. A data manager reviews it and keeps the current decision or starts protected recoding. Nothing is silently overwritten.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772400" y="5257800"/>
            <a:ext cx="3867912" cy="960120"/>
          </a:xfrm>
          <a:prstGeom prst="roundRect">
            <a:avLst>
              <a:gd name="adj" fmla="val 761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955280" y="53035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→ NEAR REAL TIME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checks, bounded queues, visible exceptions, idempotent retries, direct intake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DigitVA architecture and workflow</dc:title>
  <dc:subject>PptxGenJS Presentation</dc:subject>
  <dc:creator>PptxGenJS</dc:creator>
  <cp:lastModifiedBy>PptxGenJS</cp:lastModifiedBy>
  <cp:revision>1</cp:revision>
  <dcterms:created xsi:type="dcterms:W3CDTF">2026-09-28T06:25:50Z</dcterms:created>
  <dcterms:modified xsi:type="dcterms:W3CDTF">2026-09-28T06:25:50Z</dcterms:modified>
</cp:coreProperties>
</file>
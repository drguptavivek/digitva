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GITVA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9A9C"/>
          </a:solidFill>
          <a:ln w="12700">
            <a:solidFill>
              <a:srgbClr val="159A9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607040" y="651052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DigitVA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24F"/>
                </a:solidFill>
              </a:rPr>
              <a:t>DigitVA architecture and concept model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An open, auditable platform joining VA collection, computer-coded evidence and physician-authorised cause assignment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67085"/>
                </a:solidFill>
              </a:rPr>
              <a:t>INPUT CHANNELS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DCEAF7"/>
          </a:solidFill>
          <a:ln w="1397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30936" y="1673352"/>
            <a:ext cx="1618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WHO VA forms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1965960"/>
            <a:ext cx="16184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ODK Central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Multilingual interviews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EAE6F5"/>
          </a:solidFill>
          <a:ln w="1397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" y="2596896"/>
            <a:ext cx="1618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Additional forms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" y="2889504"/>
            <a:ext cx="16184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SmartVA-compatible and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programme-specific profiles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02920" y="3419856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E3F3EA"/>
          </a:solidFill>
          <a:ln w="1397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" y="3520440"/>
            <a:ext cx="1618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Health-system intake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" y="3813048"/>
            <a:ext cx="16184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Death register and direct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web-based notification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880360" y="1261872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67085"/>
                </a:solidFill>
              </a:rPr>
              <a:t>DIGITVA CORE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88920" y="1508760"/>
            <a:ext cx="6080760" cy="3429000"/>
          </a:xfrm>
          <a:prstGeom prst="roundRect">
            <a:avLst>
              <a:gd name="adj" fmla="val 2400"/>
            </a:avLst>
          </a:prstGeom>
          <a:solidFill>
            <a:srgbClr val="FFFFFF">
              <a:alpha val="95000"/>
            </a:srgbClr>
          </a:solidFill>
          <a:ln w="17780">
            <a:solidFill>
              <a:srgbClr val="B8C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1755648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DFF4F3"/>
          </a:solidFill>
          <a:ln w="13970">
            <a:solidFill>
              <a:srgbClr val="159A9C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45536" y="1856232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Intake + lineage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145536" y="2148840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Incremental sync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Payload versions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Attachment integrity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965192" y="1755648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DEBD3"/>
          </a:solidFill>
          <a:ln w="13970">
            <a:solidFill>
              <a:srgbClr val="F6A03D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93208" y="1856232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CCVA evidence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93208" y="2148840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SmartVA processing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Likelihoods + provenance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6912864" y="1755648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DCEAF7"/>
          </a:solidFill>
          <a:ln w="13970">
            <a:solidFill>
              <a:srgbClr val="6C9FC8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856232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Single PCVA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040880" y="2148840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WHO-form evidence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ICD search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Physician decision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663440" y="2231136"/>
            <a:ext cx="283464" cy="0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611112" y="2231136"/>
            <a:ext cx="283464" cy="0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17520" y="306324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EEF2F6"/>
          </a:solidFill>
          <a:ln w="13970">
            <a:solidFill>
              <a:srgbClr val="A8B4C2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45536" y="316382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Workflow state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145536" y="3456432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Allocations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Queues + events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Idempotent retries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4965192" y="306324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EAE6F5"/>
          </a:solidFill>
          <a:ln w="13970">
            <a:solidFill>
              <a:srgbClr val="6B5CA5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93208" y="316382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Targeted review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093208" y="3456432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Quality assurance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Recoding episodes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Final authority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6912864" y="306324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E3F3EA"/>
          </a:solidFill>
          <a:ln w="13970">
            <a:solidFill>
              <a:srgbClr val="2F855A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040880" y="316382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Mortality intelligence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040880" y="3456432"/>
            <a:ext cx="1389888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Cause groups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Dashboards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72B3A"/>
                </a:solidFill>
              </a:rPr>
              <a:t>Scoped exports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663440" y="3538728"/>
            <a:ext cx="283464" cy="0"/>
          </a:xfrm>
          <a:prstGeom prst="line">
            <a:avLst/>
          </a:prstGeom>
          <a:noFill/>
          <a:ln w="25400">
            <a:solidFill>
              <a:srgbClr val="6B5CA5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611112" y="3538728"/>
            <a:ext cx="283464" cy="0"/>
          </a:xfrm>
          <a:prstGeom prst="line">
            <a:avLst/>
          </a:prstGeom>
          <a:noFill/>
          <a:ln w="25400">
            <a:solidFill>
              <a:srgbClr val="2F855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35824" y="2734056"/>
            <a:ext cx="0" cy="301752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063240" y="4315968"/>
            <a:ext cx="1600200" cy="310896"/>
          </a:xfrm>
          <a:prstGeom prst="roundRect">
            <a:avLst>
              <a:gd name="adj" fmla="val 44118"/>
            </a:avLst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18104" y="4379976"/>
            <a:ext cx="1490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24F"/>
                </a:solidFill>
              </a:rPr>
              <a:t>Role + scope access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73168" y="4315968"/>
            <a:ext cx="1417320" cy="310896"/>
          </a:xfrm>
          <a:prstGeom prst="roundRect">
            <a:avLst>
              <a:gd name="adj" fmla="val 44118"/>
            </a:avLst>
          </a:prstGeom>
          <a:solidFill>
            <a:srgbClr val="FDEBD3"/>
          </a:solidFill>
          <a:ln w="12700">
            <a:solidFill>
              <a:srgbClr val="FDEB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4379976"/>
            <a:ext cx="13075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24F"/>
                </a:solidFill>
              </a:rPr>
              <a:t>Audit trail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300216" y="4315968"/>
            <a:ext cx="1856232" cy="310896"/>
          </a:xfrm>
          <a:prstGeom prst="roundRect">
            <a:avLst>
              <a:gd name="adj" fmla="val 44118"/>
            </a:avLst>
          </a:prstGeom>
          <a:solidFill>
            <a:srgbClr val="F9E3E3"/>
          </a:solidFill>
          <a:ln w="12700">
            <a:solidFill>
              <a:srgbClr val="F9E3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4379976"/>
            <a:ext cx="17465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54747"/>
                </a:solidFill>
              </a:rPr>
              <a:t>PII-aware security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372600" y="12618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67085"/>
                </a:solidFill>
              </a:rPr>
              <a:t>OUTPUTS + USERS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9326880" y="157276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E3F3EA"/>
          </a:solidFill>
          <a:ln w="13970">
            <a:solidFill>
              <a:srgbClr val="2F855A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454896" y="1673352"/>
            <a:ext cx="2075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Authorised cause of death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454896" y="1965960"/>
            <a:ext cx="20756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ICD-10 now • ICD-11 transition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9326880" y="2496312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DCEAF7"/>
          </a:solidFill>
          <a:ln w="13970">
            <a:solidFill>
              <a:srgbClr val="6C9FC8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454896" y="2596896"/>
            <a:ext cx="2075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Programme operations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9454896" y="2889504"/>
            <a:ext cx="20756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Medical colleges • HDSS sites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Research networks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93268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FDEBD3"/>
          </a:solidFill>
          <a:ln w="13970">
            <a:solidFill>
              <a:srgbClr val="F6A03D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454896" y="3520440"/>
            <a:ext cx="2075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Health-system action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9454896" y="3813048"/>
            <a:ext cx="207568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District intelligence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Planning and surveillance</a:t>
            </a:r>
            <a:endParaRPr lang="en-US" sz="920" dirty="0"/>
          </a:p>
        </p:txBody>
      </p:sp>
      <p:sp>
        <p:nvSpPr>
          <p:cNvPr id="55" name="Shape 53"/>
          <p:cNvSpPr/>
          <p:nvPr/>
        </p:nvSpPr>
        <p:spPr>
          <a:xfrm>
            <a:off x="2377440" y="1947672"/>
            <a:ext cx="393192" cy="0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2377440" y="2871216"/>
            <a:ext cx="393192" cy="-228600"/>
          </a:xfrm>
          <a:prstGeom prst="line">
            <a:avLst/>
          </a:prstGeom>
          <a:noFill/>
          <a:ln w="25400">
            <a:solidFill>
              <a:srgbClr val="6B5CA5"/>
            </a:solidFill>
            <a:prstDash val="solid"/>
            <a:headEnd type="non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2377440" y="3794760"/>
            <a:ext cx="393192" cy="-640080"/>
          </a:xfrm>
          <a:prstGeom prst="line">
            <a:avLst/>
          </a:prstGeom>
          <a:noFill/>
          <a:ln w="25400">
            <a:solidFill>
              <a:srgbClr val="2F855A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8869680" y="2231136"/>
            <a:ext cx="438912" cy="-283464"/>
          </a:xfrm>
          <a:prstGeom prst="line">
            <a:avLst/>
          </a:prstGeom>
          <a:noFill/>
          <a:ln w="25400">
            <a:solidFill>
              <a:srgbClr val="2F855A"/>
            </a:solidFill>
            <a:prstDash val="solid"/>
            <a:headEnd type="none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8869680" y="2889504"/>
            <a:ext cx="438912" cy="0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8869680" y="3547872"/>
            <a:ext cx="438912" cy="246888"/>
          </a:xfrm>
          <a:prstGeom prst="line">
            <a:avLst/>
          </a:prstGeom>
          <a:noFill/>
          <a:ln w="25400">
            <a:solidFill>
              <a:srgbClr val="F6A03D"/>
            </a:solidFill>
            <a:prstDash val="solid"/>
            <a:headEnd type="none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502920" y="5349240"/>
            <a:ext cx="11155680" cy="713232"/>
          </a:xfrm>
          <a:prstGeom prst="roundRect">
            <a:avLst>
              <a:gd name="adj" fmla="val 7692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1520" y="55321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</a:rPr>
              <a:t>OPEN PLATFORM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2057400" y="5513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Flask web application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703320" y="55138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5513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Celery + Redis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675120" y="5513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Docker deployment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503920" y="551383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E1D1"/>
                </a:solidFill>
              </a:rPr>
              <a:t>MIT licensed • GitHub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10104120" y="55138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596"/>
                </a:solidFill>
              </a:rPr>
              <a:t>LLM gateway (future)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24F"/>
                </a:solidFill>
              </a:rPr>
              <a:t>From death notification to mortality intelligence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Current workflow plus the planned shift from periodic batches to near-real-time, health-system operation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66928" y="1399032"/>
            <a:ext cx="384048" cy="384048"/>
          </a:xfrm>
          <a:prstGeom prst="ellipse">
            <a:avLst/>
          </a:prstGeom>
          <a:solidFill>
            <a:srgbClr val="2F85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813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E3F3EA"/>
          </a:solidFill>
          <a:ln w="13970">
            <a:solidFill>
              <a:srgbClr val="2F855A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" y="1655064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Death notification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85216" y="1947672"/>
            <a:ext cx="170078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Register or match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a community death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2414016" y="2093976"/>
            <a:ext cx="292608" cy="0"/>
          </a:xfrm>
          <a:prstGeom prst="line">
            <a:avLst/>
          </a:prstGeom>
          <a:noFill/>
          <a:ln w="25400">
            <a:solidFill>
              <a:srgbClr val="2F85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34640" y="1399032"/>
            <a:ext cx="384048" cy="384048"/>
          </a:xfrm>
          <a:prstGeom prst="ellipse">
            <a:avLst/>
          </a:prstGeom>
          <a:solidFill>
            <a:srgbClr val="6C9F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4813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24912" y="1554480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DCEAF7"/>
          </a:solidFill>
          <a:ln w="13970">
            <a:solidFill>
              <a:srgbClr val="6C9FC8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52928" y="1655064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VA interview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52928" y="1947672"/>
            <a:ext cx="170078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WHO or supported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form profile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1728" y="2093976"/>
            <a:ext cx="292608" cy="0"/>
          </a:xfrm>
          <a:prstGeom prst="line">
            <a:avLst/>
          </a:prstGeom>
          <a:noFill/>
          <a:ln w="25400">
            <a:solidFill>
              <a:srgbClr val="6C9FC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02352" y="1399032"/>
            <a:ext cx="384048" cy="384048"/>
          </a:xfrm>
          <a:prstGeom prst="ellipse">
            <a:avLst/>
          </a:prstGeom>
          <a:solidFill>
            <a:srgbClr val="159A9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14813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2624" y="1554480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DFF4F3"/>
          </a:solidFill>
          <a:ln w="13970">
            <a:solidFill>
              <a:srgbClr val="159A9C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20640" y="1655064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Intake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20640" y="1947672"/>
            <a:ext cx="170078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ODK sync or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direct web entry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949440" y="2093976"/>
            <a:ext cx="292608" cy="0"/>
          </a:xfrm>
          <a:prstGeom prst="line">
            <a:avLst/>
          </a:prstGeom>
          <a:noFill/>
          <a:ln w="25400">
            <a:solidFill>
              <a:srgbClr val="159A9C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70064" y="1399032"/>
            <a:ext cx="384048" cy="384048"/>
          </a:xfrm>
          <a:prstGeom prst="ellipse">
            <a:avLst/>
          </a:prstGeom>
          <a:solidFill>
            <a:srgbClr val="A8B4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70064" y="14813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60336" y="1554480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EEF2F6"/>
          </a:solidFill>
          <a:ln w="13970">
            <a:solidFill>
              <a:srgbClr val="A8B4C2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88352" y="1655064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Validate + version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388352" y="1947672"/>
            <a:ext cx="170078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Identity, completeness,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attachments, lineage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9217152" y="2093976"/>
            <a:ext cx="292608" cy="0"/>
          </a:xfrm>
          <a:prstGeom prst="line">
            <a:avLst/>
          </a:prstGeom>
          <a:noFill/>
          <a:ln w="25400">
            <a:solidFill>
              <a:srgbClr val="A8B4C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37776" y="1399032"/>
            <a:ext cx="384048" cy="384048"/>
          </a:xfrm>
          <a:prstGeom prst="ellipse">
            <a:avLst/>
          </a:prstGeom>
          <a:solidFill>
            <a:srgbClr val="F6A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37776" y="14813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28048" y="1554480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DEBD3"/>
          </a:solidFill>
          <a:ln w="13970">
            <a:solidFill>
              <a:srgbClr val="F6A03D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656064" y="1655064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CCVA processing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656064" y="1947672"/>
            <a:ext cx="170078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SmartVA evidence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172B3A"/>
                </a:solidFill>
              </a:rPr>
              <a:t>with provenance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10241280" y="2651760"/>
            <a:ext cx="0" cy="475488"/>
          </a:xfrm>
          <a:prstGeom prst="line">
            <a:avLst/>
          </a:prstGeom>
          <a:noFill/>
          <a:ln w="25400">
            <a:solidFill>
              <a:srgbClr val="F6A03D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66928" y="3209544"/>
            <a:ext cx="384048" cy="384048"/>
          </a:xfrm>
          <a:prstGeom prst="ellipse">
            <a:avLst/>
          </a:prstGeom>
          <a:solidFill>
            <a:srgbClr val="F6A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29184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364992"/>
            <a:ext cx="2487168" cy="1143000"/>
          </a:xfrm>
          <a:prstGeom prst="roundRect">
            <a:avLst>
              <a:gd name="adj" fmla="val 6400"/>
            </a:avLst>
          </a:prstGeom>
          <a:solidFill>
            <a:srgbClr val="FDEBD3"/>
          </a:solidFill>
          <a:ln w="13970">
            <a:solidFill>
              <a:srgbClr val="F6A03D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85216" y="346557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Use the data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85216" y="3758184"/>
            <a:ext cx="223113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172B3A"/>
                </a:solidFill>
              </a:rPr>
              <a:t>Dashboards, exports, cause groups and health-system feedback</a:t>
            </a:r>
            <a:endParaRPr lang="en-US" sz="890" dirty="0"/>
          </a:p>
        </p:txBody>
      </p:sp>
      <p:sp>
        <p:nvSpPr>
          <p:cNvPr id="39" name="Shape 37"/>
          <p:cNvSpPr/>
          <p:nvPr/>
        </p:nvSpPr>
        <p:spPr>
          <a:xfrm>
            <a:off x="2944368" y="3931920"/>
            <a:ext cx="301752" cy="0"/>
          </a:xfrm>
          <a:prstGeom prst="line">
            <a:avLst/>
          </a:prstGeom>
          <a:noFill/>
          <a:ln w="25400">
            <a:solidFill>
              <a:srgbClr val="2F855A"/>
            </a:solidFill>
            <a:prstDash val="solid"/>
            <a:headEnd type="triangl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3374136" y="3209544"/>
            <a:ext cx="384048" cy="384048"/>
          </a:xfrm>
          <a:prstGeom prst="ellipse">
            <a:avLst/>
          </a:prstGeom>
          <a:solidFill>
            <a:srgbClr val="2F85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74136" y="329184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64408" y="3364992"/>
            <a:ext cx="2487168" cy="1143000"/>
          </a:xfrm>
          <a:prstGeom prst="roundRect">
            <a:avLst>
              <a:gd name="adj" fmla="val 6400"/>
            </a:avLst>
          </a:prstGeom>
          <a:solidFill>
            <a:srgbClr val="E3F3EA"/>
          </a:solidFill>
          <a:ln w="13970">
            <a:solidFill>
              <a:srgbClr val="2F855A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392424" y="346557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Final cause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392424" y="3758184"/>
            <a:ext cx="223113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172B3A"/>
                </a:solidFill>
              </a:rPr>
              <a:t>Physician-authorised ICD decision with preserved evidence and audit trail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5751576" y="3931920"/>
            <a:ext cx="301752" cy="0"/>
          </a:xfrm>
          <a:prstGeom prst="line">
            <a:avLst/>
          </a:prstGeom>
          <a:noFill/>
          <a:ln w="25400">
            <a:solidFill>
              <a:srgbClr val="6B5CA5"/>
            </a:solidFill>
            <a:prstDash val="solid"/>
            <a:headEnd type="triangl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181344" y="3209544"/>
            <a:ext cx="384048" cy="384048"/>
          </a:xfrm>
          <a:prstGeom prst="ellipse">
            <a:avLst/>
          </a:prstGeom>
          <a:solidFill>
            <a:srgbClr val="6B5CA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1344" y="329184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71616" y="3364992"/>
            <a:ext cx="2487168" cy="1143000"/>
          </a:xfrm>
          <a:prstGeom prst="roundRect">
            <a:avLst>
              <a:gd name="adj" fmla="val 6400"/>
            </a:avLst>
          </a:prstGeom>
          <a:solidFill>
            <a:srgbClr val="EAE6F5"/>
          </a:solidFill>
          <a:ln w="13970">
            <a:solidFill>
              <a:srgbClr val="6B5CA5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199632" y="346557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Targeted review?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199632" y="3758184"/>
            <a:ext cx="223113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172B3A"/>
                </a:solidFill>
              </a:rPr>
              <a:t>Only for QA, escalation or programme rules — not routine dual PCVA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8558784" y="3931920"/>
            <a:ext cx="301752" cy="0"/>
          </a:xfrm>
          <a:prstGeom prst="line">
            <a:avLst/>
          </a:prstGeom>
          <a:noFill/>
          <a:ln w="25400">
            <a:solidFill>
              <a:srgbClr val="6C9FC8"/>
            </a:solidFill>
            <a:prstDash val="solid"/>
            <a:headEnd type="triangle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8988552" y="3209544"/>
            <a:ext cx="384048" cy="384048"/>
          </a:xfrm>
          <a:prstGeom prst="ellipse">
            <a:avLst/>
          </a:prstGeom>
          <a:solidFill>
            <a:srgbClr val="6C9F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988552" y="329184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878824" y="3364992"/>
            <a:ext cx="2487168" cy="1143000"/>
          </a:xfrm>
          <a:prstGeom prst="roundRect">
            <a:avLst>
              <a:gd name="adj" fmla="val 6400"/>
            </a:avLst>
          </a:prstGeom>
          <a:solidFill>
            <a:srgbClr val="DCEAF7"/>
          </a:solidFill>
          <a:ln w="13970">
            <a:solidFill>
              <a:srgbClr val="6C9FC8"/>
            </a:solidFill>
            <a:prstDash val="solid"/>
          </a:ln>
          <a:effectLst>
            <a:outerShdw sx="100000" sy="100000" kx="0" ky="0" algn="bl" rotWithShape="0" blurRad="12700" dist="50800" dir="2700000">
              <a:srgbClr val="B8C4D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9006840" y="346557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</a:rPr>
              <a:t>Single physician coding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9006840" y="3758184"/>
            <a:ext cx="223113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172B3A"/>
                </a:solidFill>
              </a:rPr>
              <a:t>Reviews WHO-form evidence, narrative, medical information and CCVA output</a:t>
            </a:r>
            <a:endParaRPr lang="en-US" sz="890" dirty="0"/>
          </a:p>
        </p:txBody>
      </p:sp>
      <p:sp>
        <p:nvSpPr>
          <p:cNvPr id="57" name="Shape 55"/>
          <p:cNvSpPr/>
          <p:nvPr/>
        </p:nvSpPr>
        <p:spPr>
          <a:xfrm>
            <a:off x="475488" y="5074920"/>
            <a:ext cx="7086600" cy="786384"/>
          </a:xfrm>
          <a:prstGeom prst="roundRect">
            <a:avLst>
              <a:gd name="adj" fmla="val 6977"/>
            </a:avLst>
          </a:prstGeom>
          <a:solidFill>
            <a:srgbClr val="F9E3E3"/>
          </a:solidFill>
          <a:ln w="15240">
            <a:solidFill>
              <a:srgbClr val="D89B9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52303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54747"/>
                </a:solidFill>
              </a:rPr>
              <a:t>DATA-CHANGE SAFETY LOOP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2240280" y="5166360"/>
            <a:ext cx="5084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72B3A"/>
                </a:solidFill>
              </a:rPr>
              <a:t>Upstream interview changes create a pending payload version → data manager reviews differences → retain the current decision or initiate protected recoding. No silent overwrite.</a:t>
            </a:r>
            <a:endParaRPr lang="en-US" sz="940" dirty="0"/>
          </a:p>
        </p:txBody>
      </p:sp>
      <p:sp>
        <p:nvSpPr>
          <p:cNvPr id="60" name="Shape 58"/>
          <p:cNvSpPr/>
          <p:nvPr/>
        </p:nvSpPr>
        <p:spPr>
          <a:xfrm>
            <a:off x="4846320" y="5056632"/>
            <a:ext cx="0" cy="-512064"/>
          </a:xfrm>
          <a:prstGeom prst="line">
            <a:avLst/>
          </a:prstGeom>
          <a:noFill/>
          <a:ln w="25400">
            <a:solidFill>
              <a:srgbClr val="B54747"/>
            </a:solidFill>
            <a:prstDash val="solid"/>
            <a:headEnd type="none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7882128" y="5074920"/>
            <a:ext cx="3840480" cy="786384"/>
          </a:xfrm>
          <a:prstGeom prst="roundRect">
            <a:avLst>
              <a:gd name="adj" fmla="val 6977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074152" y="5230368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FE1D1"/>
                </a:solidFill>
              </a:rPr>
              <a:t>BATCH → NEAR REAL TIME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9784080" y="515721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FFFFFF"/>
                </a:solidFill>
              </a:rPr>
              <a:t>Delta checks • bounded queues • visible exceptions • idempotent retries • direct intake</a:t>
            </a:r>
            <a:endParaRPr lang="en-US" sz="870" dirty="0"/>
          </a:p>
        </p:txBody>
      </p:sp>
      <p:sp>
        <p:nvSpPr>
          <p:cNvPr id="64" name="Text 62"/>
          <p:cNvSpPr/>
          <p:nvPr/>
        </p:nvSpPr>
        <p:spPr>
          <a:xfrm>
            <a:off x="594360" y="614476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i="1" dirty="0">
                <a:solidFill>
                  <a:srgbClr val="667085"/>
                </a:solidFill>
              </a:rPr>
              <a:t>Future safeguards: human confirmation for any LLM-assisted summary • minimum necessary data • model and prompt provenance • ICD release identifiers</a:t>
            </a:r>
            <a:endParaRPr lang="en-US" sz="9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DigitVA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DigitVA architecture and workflow</dc:title>
  <dc:subject>DigitVA architecture and operational workflow</dc:subject>
  <dc:creator>DigitVA project</dc:creator>
  <cp:lastModifiedBy>DigitVA project</cp:lastModifiedBy>
  <cp:revision>1</cp:revision>
  <dcterms:created xsi:type="dcterms:W3CDTF">2026-09-21T19:53:56Z</dcterms:created>
  <dcterms:modified xsi:type="dcterms:W3CDTF">2026-09-21T19:53:56Z</dcterms:modified>
</cp:coreProperties>
</file>
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DigitVA brings verbal autopsy collection, computer-coded evidence, physician cause assignment and reporting into one auditable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DigitVA manuscript draft (Introduction, Discussion; Benara et al.).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Table 1 counts against production before presenting: they come from the manuscript draft dated 22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physician-authorised cause for every verbal autopsy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platform for collecting, coding and using verbal autopsy data in India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Admin Team, AIIMS New Delhi  ·  September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343400"/>
            <a:ext cx="566928" cy="566928"/>
          </a:xfrm>
          <a:prstGeom prst="ellipse">
            <a:avLst/>
          </a:prstGeom>
          <a:solidFill>
            <a:srgbClr val="12989A"/>
          </a:solidFill>
          <a:ln w="12700">
            <a:solidFill>
              <a:srgbClr val="1298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4471416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08760" y="4343400"/>
            <a:ext cx="566928" cy="566928"/>
          </a:xfrm>
          <a:prstGeom prst="ellipse">
            <a:avLst/>
          </a:prstGeom>
          <a:solidFill>
            <a:srgbClr val="12989A"/>
          </a:solidFill>
          <a:ln w="12700">
            <a:solidFill>
              <a:srgbClr val="1298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4471416"/>
            <a:ext cx="310896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86000" y="4343400"/>
            <a:ext cx="566928" cy="566928"/>
          </a:xfrm>
          <a:prstGeom prst="ellipse">
            <a:avLst/>
          </a:prstGeom>
          <a:solidFill>
            <a:srgbClr val="12989A"/>
          </a:solidFill>
          <a:ln w="12700">
            <a:solidFill>
              <a:srgbClr val="12989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16" y="4471416"/>
            <a:ext cx="310896" cy="31089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063240" y="4343400"/>
            <a:ext cx="566928" cy="566928"/>
          </a:xfrm>
          <a:prstGeom prst="ellipse">
            <a:avLst/>
          </a:prstGeom>
          <a:solidFill>
            <a:srgbClr val="12989A"/>
          </a:solidFill>
          <a:ln w="12700">
            <a:solidFill>
              <a:srgbClr val="12989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4471416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DigitVA closes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deaths in India happen at home or without a medical certificate of cause of death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0482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74520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run separate tools for interviews, physician review, computer coding, quality checks and reporting.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51129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337560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give the best cause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Indian evaluation, physician-coded VA scored highest on accuracy and agreement. Algorithms should inform the physician, not replace them.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97433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4800600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must stay traceable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interviews change after coding, programmes need to see it and decide, not overwrite silently.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680960" y="1737360"/>
            <a:ext cx="3959352" cy="3246120"/>
          </a:xfrm>
          <a:prstGeom prst="roundRect">
            <a:avLst>
              <a:gd name="adj" fmla="val 281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955280" y="192024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MINErVA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earlier platform for the SRS verbal autopsy form, with two physicians per case, was taken up by the Sample Registration System under the Registrar General of India.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F5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extends it to WHO 2022 forms, one accountable physician per case, and ICD-11.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four jobs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interview to a cause the health system can act 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731520" cy="731520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429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77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interviews from ODK Central, or enter them directly in the browser. Every change is kept as a version.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29000" y="21945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03320" y="2514600"/>
            <a:ext cx="731520" cy="731520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697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03320" y="3429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3977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SmartVA on each case and keep its likelihoods and provenance as evidence.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309360" y="21945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0" y="2514600"/>
            <a:ext cx="731520" cy="731520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697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0" y="3429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6583680" y="3977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physician assigns the ICD cause, with the WHO DORIS rules engine for ICD-11.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189720" y="21945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64040" y="2514600"/>
            <a:ext cx="731520" cy="731520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6974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464040" y="3429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9464040" y="3977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groups, dashboards, scoped exports and district-level feedback.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architecture and concept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auditable platform joining VA collection, computer-coded evidence and physician-authorised cause assignment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CHANNELS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CORE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+ 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84832"/>
            <a:ext cx="2386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VA forms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 Central sync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interviews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365760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33756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CE9F6"/>
          </a:solidFill>
          <a:ln w="15875">
            <a:solidFill>
              <a:srgbClr val="5E4FA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410712"/>
            <a:ext cx="2386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forms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SmartVA-compatible and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programme-specific profiles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3886200"/>
            <a:ext cx="365760" cy="914"/>
          </a:xfrm>
          <a:prstGeom prst="line">
            <a:avLst/>
          </a:prstGeom>
          <a:noFill/>
          <a:ln w="25400">
            <a:solidFill>
              <a:srgbClr val="5E4FA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6634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736592"/>
            <a:ext cx="2386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Health-system intake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register and direct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interview in the browser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0" y="5212080"/>
            <a:ext cx="365760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11880" y="196596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21488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3F4F3"/>
          </a:solidFill>
          <a:ln w="15875">
            <a:solidFill>
              <a:srgbClr val="1298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04488" y="222199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+ lineage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sync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versions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integrity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21488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DEEDC"/>
          </a:solidFill>
          <a:ln w="15875">
            <a:solidFill>
              <a:srgbClr val="E891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87568" y="222199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CCVA evidence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SmartVA today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algorithms planned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60920" y="21488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0648" y="222199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coding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coder decides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DORIS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first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94760" y="370332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EF1F4"/>
          </a:solidFill>
          <a:ln w="15875">
            <a:solidFill>
              <a:srgbClr val="5B6B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04488" y="377647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+ events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retries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77840" y="370332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CE9F6"/>
          </a:solidFill>
          <a:ln w="15875">
            <a:solidFill>
              <a:srgbClr val="5E4FA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87568" y="377647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physician path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Recoding episodes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authority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60920" y="370332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0648" y="377647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intelligence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groups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exports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94960" y="2766060"/>
            <a:ext cx="182880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2766060"/>
            <a:ext cx="182880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61020" y="3383280"/>
            <a:ext cx="914" cy="320040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394960" y="4320540"/>
            <a:ext cx="182880" cy="914"/>
          </a:xfrm>
          <a:prstGeom prst="line">
            <a:avLst/>
          </a:prstGeom>
          <a:noFill/>
          <a:ln w="25400">
            <a:solidFill>
              <a:srgbClr val="5E4FA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78040" y="4320540"/>
            <a:ext cx="182880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794760" y="5230368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E3EDF8"/>
          </a:solidFill>
          <a:ln w="12700">
            <a:solidFill>
              <a:srgbClr val="E3ED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94760" y="5230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scope access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5230368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FDEEDC"/>
          </a:solidFill>
          <a:ln w="12700">
            <a:solidFill>
              <a:srgbClr val="FDEE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77840" y="5230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0920" y="5230368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F9E5E3"/>
          </a:solidFill>
          <a:ln w="12700">
            <a:solidFill>
              <a:srgbClr val="F9E5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60920" y="5230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PII-aware security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189720" y="20116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99448" y="2084832"/>
            <a:ext cx="2249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cause of death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in production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ICD-11 with WHO DORIS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006840" y="2560320"/>
            <a:ext cx="137160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189720" y="333756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99448" y="3410712"/>
            <a:ext cx="2249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operations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colleges, HDSS sites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research networks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006840" y="3886200"/>
            <a:ext cx="137160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189720" y="46634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DEEDC"/>
          </a:solidFill>
          <a:ln w="15875">
            <a:solidFill>
              <a:srgbClr val="E8912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99448" y="4736592"/>
            <a:ext cx="2249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Health-system action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intelligence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surveillance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006840" y="5212080"/>
            <a:ext cx="137160" cy="914"/>
          </a:xfrm>
          <a:prstGeom prst="line">
            <a:avLst/>
          </a:prstGeom>
          <a:noFill/>
          <a:ln w="25400">
            <a:solidFill>
              <a:srgbClr val="E8912D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48640" y="60350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PLATFORM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WHO ICD-11 API     </a:t>
            </a:r>
            <a:pPr algn="ctr" indent="0" marL="0">
              <a:buNone/>
            </a:pPr>
            <a:r>
              <a:rPr lang="en-US" sz="1200" b="1" dirty="0">
                <a:solidFill>
                  <a:srgbClr val="7F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on GitHub     </a:t>
            </a:r>
            <a:pPr algn="ctr" indent="0" marL="0">
              <a:buNone/>
            </a:pPr>
            <a:r>
              <a:rPr lang="en-US" sz="1200" b="1" dirty="0">
                <a:solidFill>
                  <a:srgbClr val="F5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(future)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death to mortality intelligence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workflow, and the planned shift from periodic batches to near-real-time health-system operation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identified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death, or an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in the death register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45920"/>
            <a:ext cx="384048" cy="384048"/>
          </a:xfrm>
          <a:prstGeom prst="ellipse">
            <a:avLst/>
          </a:prstGeom>
          <a:solidFill>
            <a:srgbClr val="2E7D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78608" y="2423160"/>
            <a:ext cx="265176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interview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2022 form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supported profile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71800" y="1645920"/>
            <a:ext cx="384048" cy="384048"/>
          </a:xfrm>
          <a:prstGeom prst="ellipse">
            <a:avLst/>
          </a:prstGeom>
          <a:solidFill>
            <a:srgbClr val="3C78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2423160"/>
            <a:ext cx="265176" cy="914"/>
          </a:xfrm>
          <a:prstGeom prst="line">
            <a:avLst/>
          </a:prstGeom>
          <a:noFill/>
          <a:ln w="25400">
            <a:solidFill>
              <a:srgbClr val="3C78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75504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3F4F3"/>
          </a:solidFill>
          <a:ln w="15875">
            <a:solidFill>
              <a:srgbClr val="1298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85232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 Central sync or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web entry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85232" y="1645920"/>
            <a:ext cx="384048" cy="384048"/>
          </a:xfrm>
          <a:prstGeom prst="ellipse">
            <a:avLst/>
          </a:prstGeom>
          <a:solidFill>
            <a:srgbClr val="1298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8523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05472" y="2423160"/>
            <a:ext cx="265176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88936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EF1F4"/>
          </a:solidFill>
          <a:ln w="15875">
            <a:solidFill>
              <a:srgbClr val="5B6B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98664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version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completeness,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attachments, lineage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98664" y="1645920"/>
            <a:ext cx="384048" cy="384048"/>
          </a:xfrm>
          <a:prstGeom prst="ellipse">
            <a:avLst/>
          </a:prstGeom>
          <a:solidFill>
            <a:srgbClr val="5B6B7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9866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18904" y="2423160"/>
            <a:ext cx="265176" cy="914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02368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DEEDC"/>
          </a:solidFill>
          <a:ln w="15875">
            <a:solidFill>
              <a:srgbClr val="E891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12096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CCVA evidence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SmartVA likelihoods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provenance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12096" y="1645920"/>
            <a:ext cx="384048" cy="384048"/>
          </a:xfrm>
          <a:prstGeom prst="ellipse">
            <a:avLst/>
          </a:prstGeom>
          <a:solidFill>
            <a:srgbClr val="E891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12096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808208" y="3035808"/>
            <a:ext cx="914" cy="438912"/>
          </a:xfrm>
          <a:prstGeom prst="line">
            <a:avLst/>
          </a:prstGeom>
          <a:noFill/>
          <a:ln w="25400">
            <a:solidFill>
              <a:srgbClr val="E8912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01023" y="370332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10751" y="3776472"/>
            <a:ext cx="23225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coding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Masked: certificate and DORIS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then SmartVA shown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10751" y="3520440"/>
            <a:ext cx="384048" cy="384048"/>
          </a:xfrm>
          <a:prstGeom prst="ellipse">
            <a:avLst/>
          </a:prstGeom>
          <a:solidFill>
            <a:srgbClr val="3C78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10751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flipH="1">
            <a:off x="8817559" y="4297680"/>
            <a:ext cx="265176" cy="914"/>
          </a:xfrm>
          <a:prstGeom prst="line">
            <a:avLst/>
          </a:prstGeom>
          <a:noFill/>
          <a:ln w="25400">
            <a:solidFill>
              <a:srgbClr val="3C78B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57239" y="370332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ECE9F6"/>
          </a:solidFill>
          <a:ln w="15875">
            <a:solidFill>
              <a:srgbClr val="5E4FA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66967" y="3776472"/>
            <a:ext cx="23225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review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physician may code;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routine dual coding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6967" y="3520440"/>
            <a:ext cx="384048" cy="384048"/>
          </a:xfrm>
          <a:prstGeom prst="ellipse">
            <a:avLst/>
          </a:prstGeom>
          <a:solidFill>
            <a:srgbClr val="5E4FA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6967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 flipH="1">
            <a:off x="5973775" y="4297680"/>
            <a:ext cx="265176" cy="914"/>
          </a:xfrm>
          <a:prstGeom prst="line">
            <a:avLst/>
          </a:prstGeom>
          <a:noFill/>
          <a:ln w="25400">
            <a:solidFill>
              <a:srgbClr val="5E4FA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413455" y="370332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23183" y="3776472"/>
            <a:ext cx="23225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cause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Physician-authorised ICD code,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audit kept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523183" y="3520440"/>
            <a:ext cx="384048" cy="384048"/>
          </a:xfrm>
          <a:prstGeom prst="ellipse">
            <a:avLst/>
          </a:prstGeom>
          <a:solidFill>
            <a:srgbClr val="2E7D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23183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 flipH="1">
            <a:off x="3129991" y="4297680"/>
            <a:ext cx="265176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69671" y="370332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FDEEDC"/>
          </a:solidFill>
          <a:ln w="15875">
            <a:solidFill>
              <a:srgbClr val="E8912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9399" y="3776472"/>
            <a:ext cx="23225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groups, dashboards,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exports, feedback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9399" y="3520440"/>
            <a:ext cx="384048" cy="384048"/>
          </a:xfrm>
          <a:prstGeom prst="ellipse">
            <a:avLst/>
          </a:prstGeom>
          <a:solidFill>
            <a:srgbClr val="E891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9399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8640" y="525780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9E5E3"/>
          </a:solidFill>
          <a:ln w="12700">
            <a:solidFill>
              <a:srgbClr val="E3A9A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1520" y="53035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DATA-CHANGE SAFETY LOOP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interview data becomes a new payload version. A data manager reviews it and keeps the current decision or starts protected recoding. Nothing is silently overwritten.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772400" y="5257800"/>
            <a:ext cx="3867912" cy="960120"/>
          </a:xfrm>
          <a:prstGeom prst="roundRect">
            <a:avLst>
              <a:gd name="adj" fmla="val 761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955280" y="5303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→ NEAR REAL TIME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checks, bounded queues, visible exceptions, idempotent retries, direct intake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ICD-11 with WHO's DORIS rules engine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write the death certificate; WHO's mortality rules choose the underlying cause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rgbClr val="3C7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MASKED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first</a:t>
            </a:r>
            <a:endParaRPr lang="en-US" sz="120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physician writes Part I and Part II from the interview and narrative, runs DORIS and confirms an underlying cause. SmartVA is hidden, so it cannot anchor the decision.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3F4F3"/>
          </a:solidFill>
          <a:ln w="15875">
            <a:solidFill>
              <a:srgbClr val="1298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9659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rgbClr val="129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INFORMED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compare</a:t>
            </a:r>
            <a:endParaRPr lang="en-US" sz="120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SmartVA is shown. The physician keeps the Step 1 cause, takes SmartVA's ICD-11 target, or enters their own code. That choice is final.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33088" y="3108960"/>
            <a:ext cx="237744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0" y="178308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1911096"/>
            <a:ext cx="310896" cy="31089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006840" y="17373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WHO ICD-11 API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whoicd/icd-api 2.6.0, MMS 2026-01, pinned by digest. No case data leaves the server.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0" y="288036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300837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006840" y="28346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into cause groups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ICD-11 codes map directly to WHO 2022 VA cause groups (18,505 rows), no ICD-10 crosswalk.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229600" y="397764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410565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06840" y="3931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choice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projects keep simple entry; ICD-11 projects always use DORIS.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8006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DORIS training service runs without any case data, for teaching certificate writing.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built and running on the development project; production release in progress for October 2026.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DigitVA runs today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counts from the DigitVA database, 22 September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29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29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7,917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submissions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29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final cause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29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56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coders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694944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640080"/>
                <a:gridCol w="1234440"/>
                <a:gridCol w="109728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coded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UNSW01: Digital solutions for cause-of-death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ICMR01: Physician-ascertained COD at district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863840" y="3291840"/>
            <a:ext cx="3776472" cy="1783080"/>
          </a:xfrm>
          <a:prstGeom prst="roundRect">
            <a:avLst>
              <a:gd name="adj" fmla="val 5128"/>
            </a:avLst>
          </a:prstGeom>
          <a:solidFill>
            <a:srgbClr val="E3F4F3"/>
          </a:solidFill>
          <a:ln w="12700">
            <a:solidFill>
              <a:srgbClr val="12989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342900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languages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plus Hindi, Odia, Khasi, Tamil, Kannada, Marathi, Malayalam and Bengali across the deployed form workbooks.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DigitVA manuscript draft, Table 1; languages from the deployed ODK form workbooks.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see what, what changed, and who decided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48256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1762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scoped access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at project, site or health-facility level. Admin is the only global role.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048256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7627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protected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fields are flagged; collaborators without PII access never see them; PII is never logged.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1546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511296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63931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step is logged, with an admin activity viewer.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217920" y="31546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46520" y="3511296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36393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23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overwrite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interviews become new versions; recoding keeps the current cause until a new one is saved.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46177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4974336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10235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54480" y="47091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sign-in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 passwords rejected. Two-step login with a local CAPTCHA and passkeys or TOTP for admins and data managers are being rolled out.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217920" y="46177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46520" y="4974336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510235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223760" y="47091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in-house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database, WHO ICD API and CAPTCHA. Backups are verified.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causes to decisions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that fits programmes and the health system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8653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9164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cause groups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2022 VA, WHO 2022 VA 2026, SRS India and CMEA10 bucket schemes, on a report page and an API.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96265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78892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Data-manager dashboards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 core and 25 detailed indicators, filtered to each manager's scope.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05993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88620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snapshot exports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exports of coded causes of death for analysis.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157216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98348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Health-system tree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District, taluka, CHC, PHC, sub-centre and village, so results can flow back to where deaths happened.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7772400" y="1737360"/>
            <a:ext cx="3867912" cy="4114800"/>
          </a:xfrm>
          <a:prstGeom prst="roundRect">
            <a:avLst>
              <a:gd name="adj" fmla="val 236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046720" y="2011680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12989A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046720" y="2011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302752" y="2615184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24486B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302752" y="26151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Taluka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558784" y="3218688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12989A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558784" y="3218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8814816" y="382219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24486B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814816" y="38221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070848" y="4425696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12989A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070848" y="44256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Sub-centre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326880" y="5029200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24486B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326880" y="5029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sustainable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Plain, well-understood components a state IT team can run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9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2,354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965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9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services to code a case (ICD API and SmartVA run in-house)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9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4709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stack to deploy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0" y="178308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16" y="1911096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35240" y="173736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on GitHub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github.com/drguptavivek/DigitVA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0" y="315468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016" y="3282696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35240" y="310896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stack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Flask, PostgreSQL, Celery with Redis, nginx, all in Docker.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858000" y="4526280"/>
            <a:ext cx="566928" cy="566928"/>
          </a:xfrm>
          <a:prstGeom prst="ellipse">
            <a:avLst/>
          </a:prstGeom>
          <a:solidFill>
            <a:srgbClr val="E3F4F3"/>
          </a:solidFill>
          <a:ln w="12700">
            <a:solidFill>
              <a:srgbClr val="E3F4F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16" y="465429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635240" y="448056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safely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database migrations and a test suite run on every change.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DigitVA goes next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5B6B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30552"/>
            <a:ext cx="1737360" cy="402336"/>
          </a:xfrm>
          <a:prstGeom prst="rect">
            <a:avLst/>
          </a:prstGeom>
          <a:solidFill>
            <a:srgbClr val="F6F8FB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Feb 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EF1F4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80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2022 forms, SmartVA, physician coding with ICD-10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057400"/>
            <a:ext cx="548640" cy="548640"/>
          </a:xfrm>
          <a:prstGeom prst="ellipse">
            <a:avLst/>
          </a:prstGeom>
          <a:solidFill>
            <a:srgbClr val="3C78B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130552"/>
            <a:ext cx="1737360" cy="402336"/>
          </a:xfrm>
          <a:prstGeom prst="rect">
            <a:avLst/>
          </a:prstGeom>
          <a:solidFill>
            <a:srgbClr val="F6F8FB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7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Sep 2026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0" y="283464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3EDF8"/>
          </a:solidFill>
          <a:ln w="12700">
            <a:solidFill>
              <a:srgbClr val="3C78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2880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coding, cause-group reporting, data-change safety, multilingual forms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2057400"/>
            <a:ext cx="548640" cy="548640"/>
          </a:xfrm>
          <a:prstGeom prst="ellipse">
            <a:avLst/>
          </a:prstGeom>
          <a:solidFill>
            <a:srgbClr val="1298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130552"/>
            <a:ext cx="1737360" cy="402336"/>
          </a:xfrm>
          <a:prstGeom prst="rect">
            <a:avLst/>
          </a:prstGeom>
          <a:solidFill>
            <a:srgbClr val="F6F8FB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9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 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0" y="283464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3F4F3"/>
          </a:solidFill>
          <a:ln w="12700">
            <a:solidFill>
              <a:srgbClr val="1298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2880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ICD-11 with DORIS live, web forms and death register, health-system organisation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73168"/>
            <a:ext cx="1847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and TOTP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second factor for admins and data managers (in progress)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07208" y="470916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44368" y="4773168"/>
            <a:ext cx="1847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single sign-on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through a project's own identity provider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65776" y="470916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02936" y="4773168"/>
            <a:ext cx="1847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ML coders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InterVA, InSilicoVA, EAVA alongside SmartVA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24344" y="470916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61504" y="4773168"/>
            <a:ext cx="1847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ICD search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by meaning, no external API (in progress)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582912" y="470916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20072" y="4773168"/>
            <a:ext cx="1847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assistance (future)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 human confirmation and full provenance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death counted.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cause authorised by a physician.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joins verbal autopsy collection, computer evidence and physician decisions in one open, auditable platform, ready for ICD-11.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digitva.causeofdeathindia.com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Admin Team, AIIMS New Delhi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DigitVA</dc:title>
  <dc:subject>PptxGenJS Presentation</dc:subject>
  <dc:creator>PptxGenJS</dc:creator>
  <cp:lastModifiedBy>PptxGenJS</cp:lastModifiedBy>
  <cp:revision>1</cp:revision>
  <dcterms:created xsi:type="dcterms:W3CDTF">2026-09-28T06:25:50Z</dcterms:created>
  <dcterms:modified xsi:type="dcterms:W3CDTF">2026-09-28T06:25:50Z</dcterms:modified>
</cp:coreProperties>
</file>